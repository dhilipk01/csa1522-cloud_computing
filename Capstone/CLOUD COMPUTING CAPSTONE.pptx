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89" r:id="rId2"/>
    <p:sldId id="257" r:id="rId3"/>
    <p:sldId id="290" r:id="rId4"/>
    <p:sldId id="258" r:id="rId5"/>
    <p:sldId id="259" r:id="rId6"/>
    <p:sldId id="299" r:id="rId7"/>
    <p:sldId id="301" r:id="rId8"/>
    <p:sldId id="260" r:id="rId9"/>
    <p:sldId id="295" r:id="rId10"/>
    <p:sldId id="291" r:id="rId11"/>
    <p:sldId id="296" r:id="rId12"/>
    <p:sldId id="292" r:id="rId13"/>
    <p:sldId id="297" r:id="rId14"/>
    <p:sldId id="264" r:id="rId15"/>
    <p:sldId id="261" r:id="rId16"/>
    <p:sldId id="300" r:id="rId17"/>
    <p:sldId id="265" r:id="rId18"/>
    <p:sldId id="267" r:id="rId19"/>
    <p:sldId id="302" r:id="rId20"/>
    <p:sldId id="293" r:id="rId21"/>
    <p:sldId id="298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B6D5EA-664B-487D-90F3-62B9ADD7F4F0}" v="4" dt="2026-07-28T17:47:24.586"/>
    <p1510:client id="{FB5DA1E7-3273-4638-973A-523459916C98}" v="27" dt="2026-07-29T04:35:50.802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1666" y="-7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trakalsubahan17@outlook.com" userId="acd941c7071c7b22" providerId="LiveId" clId="{2045C576-319B-40BB-B274-0175603C22F1}"/>
    <pc:docChg chg="undo redo custSel addSld delSld modSld sldOrd">
      <pc:chgData name="thatrakalsubahan17@outlook.com" userId="acd941c7071c7b22" providerId="LiveId" clId="{2045C576-319B-40BB-B274-0175603C22F1}" dt="2026-07-29T04:47:26.796" v="617" actId="20577"/>
      <pc:docMkLst>
        <pc:docMk/>
      </pc:docMkLst>
      <pc:sldChg chg="addSp delSp modSp mod">
        <pc:chgData name="thatrakalsubahan17@outlook.com" userId="acd941c7071c7b22" providerId="LiveId" clId="{2045C576-319B-40BB-B274-0175603C22F1}" dt="2026-07-29T04:18:11.805" v="21" actId="1076"/>
        <pc:sldMkLst>
          <pc:docMk/>
          <pc:sldMk cId="0" sldId="257"/>
        </pc:sldMkLst>
        <pc:spChg chg="add mod">
          <ac:chgData name="thatrakalsubahan17@outlook.com" userId="acd941c7071c7b22" providerId="LiveId" clId="{2045C576-319B-40BB-B274-0175603C22F1}" dt="2026-07-29T04:18:08.651" v="20" actId="1076"/>
          <ac:spMkLst>
            <pc:docMk/>
            <pc:sldMk cId="0" sldId="257"/>
            <ac:spMk id="2" creationId="{AE17C43D-7953-5BC1-E54E-298B9B3C2AC4}"/>
          </ac:spMkLst>
        </pc:spChg>
        <pc:spChg chg="mod">
          <ac:chgData name="thatrakalsubahan17@outlook.com" userId="acd941c7071c7b22" providerId="LiveId" clId="{2045C576-319B-40BB-B274-0175603C22F1}" dt="2026-07-29T04:18:11.805" v="21" actId="1076"/>
          <ac:spMkLst>
            <pc:docMk/>
            <pc:sldMk cId="0" sldId="257"/>
            <ac:spMk id="4" creationId="{00000000-0000-0000-0000-000000000000}"/>
          </ac:spMkLst>
        </pc:spChg>
        <pc:spChg chg="del mod">
          <ac:chgData name="thatrakalsubahan17@outlook.com" userId="acd941c7071c7b22" providerId="LiveId" clId="{2045C576-319B-40BB-B274-0175603C22F1}" dt="2026-07-29T04:17:06.848" v="7" actId="478"/>
          <ac:spMkLst>
            <pc:docMk/>
            <pc:sldMk cId="0" sldId="257"/>
            <ac:spMk id="5" creationId="{00000000-0000-0000-0000-000000000000}"/>
          </ac:spMkLst>
        </pc:spChg>
      </pc:sldChg>
      <pc:sldChg chg="modSp mod ord">
        <pc:chgData name="thatrakalsubahan17@outlook.com" userId="acd941c7071c7b22" providerId="LiveId" clId="{2045C576-319B-40BB-B274-0175603C22F1}" dt="2026-07-29T04:37:33.741" v="571" actId="255"/>
        <pc:sldMkLst>
          <pc:docMk/>
          <pc:sldMk cId="0" sldId="258"/>
        </pc:sldMkLst>
        <pc:spChg chg="mod">
          <ac:chgData name="thatrakalsubahan17@outlook.com" userId="acd941c7071c7b22" providerId="LiveId" clId="{2045C576-319B-40BB-B274-0175603C22F1}" dt="2026-07-29T04:23:34.008" v="193" actId="10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thatrakalsubahan17@outlook.com" userId="acd941c7071c7b22" providerId="LiveId" clId="{2045C576-319B-40BB-B274-0175603C22F1}" dt="2026-07-29T04:37:33.741" v="571" actId="255"/>
          <ac:spMkLst>
            <pc:docMk/>
            <pc:sldMk cId="0" sldId="258"/>
            <ac:spMk id="5" creationId="{00000000-0000-0000-0000-000000000000}"/>
          </ac:spMkLst>
        </pc:spChg>
      </pc:sldChg>
      <pc:sldChg chg="addSp delSp modSp mod">
        <pc:chgData name="thatrakalsubahan17@outlook.com" userId="acd941c7071c7b22" providerId="LiveId" clId="{2045C576-319B-40BB-B274-0175603C22F1}" dt="2026-07-29T04:24:00.785" v="195" actId="1076"/>
        <pc:sldMkLst>
          <pc:docMk/>
          <pc:sldMk cId="0" sldId="259"/>
        </pc:sldMkLst>
        <pc:spChg chg="add mod">
          <ac:chgData name="thatrakalsubahan17@outlook.com" userId="acd941c7071c7b22" providerId="LiveId" clId="{2045C576-319B-40BB-B274-0175603C22F1}" dt="2026-07-29T04:24:00.785" v="195" actId="1076"/>
          <ac:spMkLst>
            <pc:docMk/>
            <pc:sldMk cId="0" sldId="259"/>
            <ac:spMk id="2" creationId="{61400630-22AB-53EF-E8DD-7AB0B0AB996D}"/>
          </ac:spMkLst>
        </pc:spChg>
        <pc:spChg chg="add mod">
          <ac:chgData name="thatrakalsubahan17@outlook.com" userId="acd941c7071c7b22" providerId="LiveId" clId="{2045C576-319B-40BB-B274-0175603C22F1}" dt="2026-07-29T04:23:13.239" v="189" actId="20577"/>
          <ac:spMkLst>
            <pc:docMk/>
            <pc:sldMk cId="0" sldId="259"/>
            <ac:spMk id="3" creationId="{FE6ECE05-AD0A-7F29-5B95-27F8F5F0C517}"/>
          </ac:spMkLst>
        </pc:spChg>
        <pc:spChg chg="del">
          <ac:chgData name="thatrakalsubahan17@outlook.com" userId="acd941c7071c7b22" providerId="LiveId" clId="{2045C576-319B-40BB-B274-0175603C22F1}" dt="2026-07-29T04:20:40.851" v="117" actId="478"/>
          <ac:spMkLst>
            <pc:docMk/>
            <pc:sldMk cId="0" sldId="259"/>
            <ac:spMk id="5" creationId="{00000000-0000-0000-0000-000000000000}"/>
          </ac:spMkLst>
        </pc:spChg>
      </pc:sldChg>
      <pc:sldChg chg="delSp modSp mod">
        <pc:chgData name="thatrakalsubahan17@outlook.com" userId="acd941c7071c7b22" providerId="LiveId" clId="{2045C576-319B-40BB-B274-0175603C22F1}" dt="2026-07-29T04:30:17.988" v="375" actId="11"/>
        <pc:sldMkLst>
          <pc:docMk/>
          <pc:sldMk cId="0" sldId="260"/>
        </pc:sldMkLst>
        <pc:spChg chg="mod">
          <ac:chgData name="thatrakalsubahan17@outlook.com" userId="acd941c7071c7b22" providerId="LiveId" clId="{2045C576-319B-40BB-B274-0175603C22F1}" dt="2026-07-29T04:25:18.679" v="309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thatrakalsubahan17@outlook.com" userId="acd941c7071c7b22" providerId="LiveId" clId="{2045C576-319B-40BB-B274-0175603C22F1}" dt="2026-07-29T04:30:17.988" v="375" actId="11"/>
          <ac:spMkLst>
            <pc:docMk/>
            <pc:sldMk cId="0" sldId="260"/>
            <ac:spMk id="5" creationId="{00000000-0000-0000-0000-000000000000}"/>
          </ac:spMkLst>
        </pc:spChg>
        <pc:picChg chg="del">
          <ac:chgData name="thatrakalsubahan17@outlook.com" userId="acd941c7071c7b22" providerId="LiveId" clId="{2045C576-319B-40BB-B274-0175603C22F1}" dt="2026-07-29T04:24:10.578" v="196" actId="478"/>
          <ac:picMkLst>
            <pc:docMk/>
            <pc:sldMk cId="0" sldId="260"/>
            <ac:picMk id="9" creationId="{65F5D94A-3B76-84C1-0271-7F553B348D7B}"/>
          </ac:picMkLst>
        </pc:picChg>
      </pc:sldChg>
      <pc:sldChg chg="addSp delSp modSp mod">
        <pc:chgData name="thatrakalsubahan17@outlook.com" userId="acd941c7071c7b22" providerId="LiveId" clId="{2045C576-319B-40BB-B274-0175603C22F1}" dt="2026-07-29T04:44:03.625" v="611" actId="1076"/>
        <pc:sldMkLst>
          <pc:docMk/>
          <pc:sldMk cId="0" sldId="261"/>
        </pc:sldMkLst>
        <pc:spChg chg="mod">
          <ac:chgData name="thatrakalsubahan17@outlook.com" userId="acd941c7071c7b22" providerId="LiveId" clId="{2045C576-319B-40BB-B274-0175603C22F1}" dt="2026-07-29T04:31:06.576" v="433" actId="2711"/>
          <ac:spMkLst>
            <pc:docMk/>
            <pc:sldMk cId="0" sldId="261"/>
            <ac:spMk id="4" creationId="{00000000-0000-0000-0000-000000000000}"/>
          </ac:spMkLst>
        </pc:spChg>
        <pc:spChg chg="mod">
          <ac:chgData name="thatrakalsubahan17@outlook.com" userId="acd941c7071c7b22" providerId="LiveId" clId="{2045C576-319B-40BB-B274-0175603C22F1}" dt="2026-07-29T04:33:35.973" v="494" actId="255"/>
          <ac:spMkLst>
            <pc:docMk/>
            <pc:sldMk cId="0" sldId="261"/>
            <ac:spMk id="5" creationId="{00000000-0000-0000-0000-000000000000}"/>
          </ac:spMkLst>
        </pc:spChg>
        <pc:picChg chg="add del mod modCrop">
          <ac:chgData name="thatrakalsubahan17@outlook.com" userId="acd941c7071c7b22" providerId="LiveId" clId="{2045C576-319B-40BB-B274-0175603C22F1}" dt="2026-07-29T04:44:03.625" v="611" actId="1076"/>
          <ac:picMkLst>
            <pc:docMk/>
            <pc:sldMk cId="0" sldId="261"/>
            <ac:picMk id="2" creationId="{0D133C38-E808-7355-31B8-ECE498BAAF00}"/>
          </ac:picMkLst>
        </pc:picChg>
        <pc:picChg chg="del">
          <ac:chgData name="thatrakalsubahan17@outlook.com" userId="acd941c7071c7b22" providerId="LiveId" clId="{2045C576-319B-40BB-B274-0175603C22F1}" dt="2026-07-29T04:30:41.843" v="376" actId="478"/>
          <ac:picMkLst>
            <pc:docMk/>
            <pc:sldMk cId="0" sldId="261"/>
            <ac:picMk id="9" creationId="{33443CE5-EF74-A743-7A0C-779843471E01}"/>
          </ac:picMkLst>
        </pc:picChg>
      </pc:sldChg>
      <pc:sldChg chg="addSp delSp modSp mod ord">
        <pc:chgData name="thatrakalsubahan17@outlook.com" userId="acd941c7071c7b22" providerId="LiveId" clId="{2045C576-319B-40BB-B274-0175603C22F1}" dt="2026-07-29T04:33:42.978" v="496"/>
        <pc:sldMkLst>
          <pc:docMk/>
          <pc:sldMk cId="0" sldId="264"/>
        </pc:sldMkLst>
        <pc:spChg chg="add mod">
          <ac:chgData name="thatrakalsubahan17@outlook.com" userId="acd941c7071c7b22" providerId="LiveId" clId="{2045C576-319B-40BB-B274-0175603C22F1}" dt="2026-07-29T04:33:12.900" v="492" actId="122"/>
          <ac:spMkLst>
            <pc:docMk/>
            <pc:sldMk cId="0" sldId="264"/>
            <ac:spMk id="3" creationId="{26A2BB36-BC9F-C98C-6E6A-3DD3A6CC78DA}"/>
          </ac:spMkLst>
        </pc:spChg>
        <pc:spChg chg="mod">
          <ac:chgData name="thatrakalsubahan17@outlook.com" userId="acd941c7071c7b22" providerId="LiveId" clId="{2045C576-319B-40BB-B274-0175603C22F1}" dt="2026-07-29T04:32:02.265" v="478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thatrakalsubahan17@outlook.com" userId="acd941c7071c7b22" providerId="LiveId" clId="{2045C576-319B-40BB-B274-0175603C22F1}" dt="2026-07-29T04:33:17.756" v="493" actId="12"/>
          <ac:spMkLst>
            <pc:docMk/>
            <pc:sldMk cId="0" sldId="264"/>
            <ac:spMk id="5" creationId="{00000000-0000-0000-0000-000000000000}"/>
          </ac:spMkLst>
        </pc:spChg>
        <pc:picChg chg="del">
          <ac:chgData name="thatrakalsubahan17@outlook.com" userId="acd941c7071c7b22" providerId="LiveId" clId="{2045C576-319B-40BB-B274-0175603C22F1}" dt="2026-07-29T04:31:56.246" v="453" actId="478"/>
          <ac:picMkLst>
            <pc:docMk/>
            <pc:sldMk cId="0" sldId="264"/>
            <ac:picMk id="2" creationId="{00000000-0000-0000-0000-000000000000}"/>
          </ac:picMkLst>
        </pc:picChg>
      </pc:sldChg>
      <pc:sldChg chg="delSp modSp mod">
        <pc:chgData name="thatrakalsubahan17@outlook.com" userId="acd941c7071c7b22" providerId="LiveId" clId="{2045C576-319B-40BB-B274-0175603C22F1}" dt="2026-07-29T04:35:04.060" v="557" actId="1076"/>
        <pc:sldMkLst>
          <pc:docMk/>
          <pc:sldMk cId="0" sldId="265"/>
        </pc:sldMkLst>
        <pc:spChg chg="mod">
          <ac:chgData name="thatrakalsubahan17@outlook.com" userId="acd941c7071c7b22" providerId="LiveId" clId="{2045C576-319B-40BB-B274-0175603C22F1}" dt="2026-07-29T04:35:04.060" v="557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thatrakalsubahan17@outlook.com" userId="acd941c7071c7b22" providerId="LiveId" clId="{2045C576-319B-40BB-B274-0175603C22F1}" dt="2026-07-29T04:34:49.156" v="555" actId="1076"/>
          <ac:spMkLst>
            <pc:docMk/>
            <pc:sldMk cId="0" sldId="265"/>
            <ac:spMk id="5" creationId="{00000000-0000-0000-0000-000000000000}"/>
          </ac:spMkLst>
        </pc:spChg>
        <pc:picChg chg="del">
          <ac:chgData name="thatrakalsubahan17@outlook.com" userId="acd941c7071c7b22" providerId="LiveId" clId="{2045C576-319B-40BB-B274-0175603C22F1}" dt="2026-07-29T04:33:56.653" v="497" actId="478"/>
          <ac:picMkLst>
            <pc:docMk/>
            <pc:sldMk cId="0" sldId="265"/>
            <ac:picMk id="14" creationId="{49E8FAF5-4A25-84C4-44F8-29045A2EF18E}"/>
          </ac:picMkLst>
        </pc:picChg>
      </pc:sldChg>
      <pc:sldChg chg="del">
        <pc:chgData name="thatrakalsubahan17@outlook.com" userId="acd941c7071c7b22" providerId="LiveId" clId="{2045C576-319B-40BB-B274-0175603C22F1}" dt="2026-07-29T04:35:38.069" v="558" actId="2696"/>
        <pc:sldMkLst>
          <pc:docMk/>
          <pc:sldMk cId="0" sldId="266"/>
        </pc:sldMkLst>
      </pc:sldChg>
      <pc:sldChg chg="modSp mod">
        <pc:chgData name="thatrakalsubahan17@outlook.com" userId="acd941c7071c7b22" providerId="LiveId" clId="{2045C576-319B-40BB-B274-0175603C22F1}" dt="2026-07-29T04:36:56.013" v="570" actId="1076"/>
        <pc:sldMkLst>
          <pc:docMk/>
          <pc:sldMk cId="0" sldId="267"/>
        </pc:sldMkLst>
        <pc:spChg chg="mod">
          <ac:chgData name="thatrakalsubahan17@outlook.com" userId="acd941c7071c7b22" providerId="LiveId" clId="{2045C576-319B-40BB-B274-0175603C22F1}" dt="2026-07-29T04:36:56.013" v="570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thatrakalsubahan17@outlook.com" userId="acd941c7071c7b22" providerId="LiveId" clId="{2045C576-319B-40BB-B274-0175603C22F1}" dt="2026-07-29T04:36:24.501" v="565" actId="255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thatrakalsubahan17@outlook.com" userId="acd941c7071c7b22" providerId="LiveId" clId="{2045C576-319B-40BB-B274-0175603C22F1}" dt="2026-07-29T04:47:26.796" v="617" actId="20577"/>
        <pc:sldMkLst>
          <pc:docMk/>
          <pc:sldMk cId="2747240544" sldId="289"/>
        </pc:sldMkLst>
        <pc:spChg chg="mod">
          <ac:chgData name="thatrakalsubahan17@outlook.com" userId="acd941c7071c7b22" providerId="LiveId" clId="{2045C576-319B-40BB-B274-0175603C22F1}" dt="2026-07-29T04:47:26.796" v="617" actId="20577"/>
          <ac:spMkLst>
            <pc:docMk/>
            <pc:sldMk cId="2747240544" sldId="289"/>
            <ac:spMk id="7" creationId="{88B2EF99-82AA-F1F2-9A6E-5718A160EF18}"/>
          </ac:spMkLst>
        </pc:spChg>
      </pc:sldChg>
      <pc:sldChg chg="addSp delSp modSp add mod">
        <pc:chgData name="thatrakalsubahan17@outlook.com" userId="acd941c7071c7b22" providerId="LiveId" clId="{2045C576-319B-40BB-B274-0175603C22F1}" dt="2026-07-29T04:37:45.599" v="573" actId="1076"/>
        <pc:sldMkLst>
          <pc:docMk/>
          <pc:sldMk cId="822373472" sldId="290"/>
        </pc:sldMkLst>
        <pc:spChg chg="add mod">
          <ac:chgData name="thatrakalsubahan17@outlook.com" userId="acd941c7071c7b22" providerId="LiveId" clId="{2045C576-319B-40BB-B274-0175603C22F1}" dt="2026-07-29T04:37:45.599" v="573" actId="1076"/>
          <ac:spMkLst>
            <pc:docMk/>
            <pc:sldMk cId="822373472" sldId="290"/>
            <ac:spMk id="2" creationId="{561F0D18-9889-2140-D361-BE8DAD21DC8D}"/>
          </ac:spMkLst>
        </pc:spChg>
        <pc:spChg chg="mod">
          <ac:chgData name="thatrakalsubahan17@outlook.com" userId="acd941c7071c7b22" providerId="LiveId" clId="{2045C576-319B-40BB-B274-0175603C22F1}" dt="2026-07-29T04:19:46.774" v="68" actId="1076"/>
          <ac:spMkLst>
            <pc:docMk/>
            <pc:sldMk cId="822373472" sldId="290"/>
            <ac:spMk id="4" creationId="{20DA9B9C-9C1F-C1B6-ABBC-088B0E145F98}"/>
          </ac:spMkLst>
        </pc:spChg>
        <pc:spChg chg="del">
          <ac:chgData name="thatrakalsubahan17@outlook.com" userId="acd941c7071c7b22" providerId="LiveId" clId="{2045C576-319B-40BB-B274-0175603C22F1}" dt="2026-07-29T04:18:50.042" v="23" actId="478"/>
          <ac:spMkLst>
            <pc:docMk/>
            <pc:sldMk cId="822373472" sldId="290"/>
            <ac:spMk id="5" creationId="{EA17B627-1EF0-E3F7-3FB7-1D1947261736}"/>
          </ac:spMkLst>
        </pc:spChg>
      </pc:sldChg>
      <pc:sldChg chg="modSp add mod">
        <pc:chgData name="thatrakalsubahan17@outlook.com" userId="acd941c7071c7b22" providerId="LiveId" clId="{2045C576-319B-40BB-B274-0175603C22F1}" dt="2026-07-29T04:30:01.290" v="373" actId="11"/>
        <pc:sldMkLst>
          <pc:docMk/>
          <pc:sldMk cId="75818756" sldId="291"/>
        </pc:sldMkLst>
        <pc:spChg chg="mod">
          <ac:chgData name="thatrakalsubahan17@outlook.com" userId="acd941c7071c7b22" providerId="LiveId" clId="{2045C576-319B-40BB-B274-0175603C22F1}" dt="2026-07-29T04:27:41.417" v="317" actId="113"/>
          <ac:spMkLst>
            <pc:docMk/>
            <pc:sldMk cId="75818756" sldId="291"/>
            <ac:spMk id="4" creationId="{D731462E-ADC6-4F16-DB5F-A47D4D4CEE02}"/>
          </ac:spMkLst>
        </pc:spChg>
        <pc:spChg chg="mod">
          <ac:chgData name="thatrakalsubahan17@outlook.com" userId="acd941c7071c7b22" providerId="LiveId" clId="{2045C576-319B-40BB-B274-0175603C22F1}" dt="2026-07-29T04:30:01.290" v="373" actId="11"/>
          <ac:spMkLst>
            <pc:docMk/>
            <pc:sldMk cId="75818756" sldId="291"/>
            <ac:spMk id="5" creationId="{84068C86-17F1-551D-B9DF-D917A8D46A55}"/>
          </ac:spMkLst>
        </pc:spChg>
      </pc:sldChg>
      <pc:sldChg chg="modSp add mod">
        <pc:chgData name="thatrakalsubahan17@outlook.com" userId="acd941c7071c7b22" providerId="LiveId" clId="{2045C576-319B-40BB-B274-0175603C22F1}" dt="2026-07-29T04:29:48.282" v="371" actId="5793"/>
        <pc:sldMkLst>
          <pc:docMk/>
          <pc:sldMk cId="1782216241" sldId="292"/>
        </pc:sldMkLst>
        <pc:spChg chg="mod">
          <ac:chgData name="thatrakalsubahan17@outlook.com" userId="acd941c7071c7b22" providerId="LiveId" clId="{2045C576-319B-40BB-B274-0175603C22F1}" dt="2026-07-29T04:28:57.754" v="363" actId="113"/>
          <ac:spMkLst>
            <pc:docMk/>
            <pc:sldMk cId="1782216241" sldId="292"/>
            <ac:spMk id="4" creationId="{B2AF1F51-C6EB-0202-333A-01EB408305AD}"/>
          </ac:spMkLst>
        </pc:spChg>
        <pc:spChg chg="mod">
          <ac:chgData name="thatrakalsubahan17@outlook.com" userId="acd941c7071c7b22" providerId="LiveId" clId="{2045C576-319B-40BB-B274-0175603C22F1}" dt="2026-07-29T04:29:48.282" v="371" actId="5793"/>
          <ac:spMkLst>
            <pc:docMk/>
            <pc:sldMk cId="1782216241" sldId="292"/>
            <ac:spMk id="5" creationId="{DA9519EB-7E14-9F58-4AE5-7851FCBBC64D}"/>
          </ac:spMkLst>
        </pc:spChg>
      </pc:sldChg>
      <pc:sldChg chg="addSp modSp new mod">
        <pc:chgData name="thatrakalsubahan17@outlook.com" userId="acd941c7071c7b22" providerId="LiveId" clId="{2045C576-319B-40BB-B274-0175603C22F1}" dt="2026-07-29T04:39:43.209" v="578" actId="1076"/>
        <pc:sldMkLst>
          <pc:docMk/>
          <pc:sldMk cId="674436863" sldId="293"/>
        </pc:sldMkLst>
        <pc:picChg chg="add mod modCrop">
          <ac:chgData name="thatrakalsubahan17@outlook.com" userId="acd941c7071c7b22" providerId="LiveId" clId="{2045C576-319B-40BB-B274-0175603C22F1}" dt="2026-07-29T04:39:43.209" v="578" actId="1076"/>
          <ac:picMkLst>
            <pc:docMk/>
            <pc:sldMk cId="674436863" sldId="293"/>
            <ac:picMk id="2" creationId="{6110245E-94C9-12DB-2750-254B00CE2C5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823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7ED26E9-BA8F-E31B-21D7-CE9A55466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E6A9AA4C-2540-19FE-293C-F9108E32B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06635BAB-1402-43D3-E669-C7FDF75B4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5ED5C1A-C522-CC12-B7E4-D2044E66E3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40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4ED5D28-F798-FD30-697D-DE35EAF10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D23B9A38-EBBA-2131-51BF-DB68F2831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725A5038-C06F-3A3F-6E03-498D60A2A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E574F30-3822-C83A-DB56-9F29EDCA56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82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DB95508-3CFF-D885-04E2-6CE1BBFC5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CDD542E2-006E-3489-879E-6F01D58F5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2339E707-A6E1-4737-C44E-B3C22B0C4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C0A60C3-7970-EC27-A90D-483A94746C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32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03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6C57094-8701-F282-F96B-11BA02B68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09820"/>
            <a:ext cx="788670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Multi-Tenant SaaS-Based Student Learning Management System</a:t>
            </a:r>
            <a:endParaRPr lang="en-I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790D3E2-F610-2747-1C75-E6CF00CE5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787" y="2571750"/>
            <a:ext cx="7886700" cy="272927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CSA1522-CLOUD COMPUTING &amp; BIG DATA ANALYTICS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88B2EF99-82AA-F1F2-9A6E-5718A160EF18}"/>
              </a:ext>
            </a:extLst>
          </p:cNvPr>
          <p:cNvSpPr txBox="1"/>
          <p:nvPr/>
        </p:nvSpPr>
        <p:spPr>
          <a:xfrm>
            <a:off x="6239022" y="3672812"/>
            <a:ext cx="2637692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b="1" dirty="0"/>
              <a:t>Name of the student :</a:t>
            </a:r>
          </a:p>
          <a:p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K.Dhilip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(192365013)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Sanjay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soy(192311151)</a:t>
            </a:r>
          </a:p>
          <a:p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T.Subahan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(192511121)</a:t>
            </a:r>
          </a:p>
          <a:p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AAC0B79C-0873-08C5-C549-9711070DE923}"/>
              </a:ext>
            </a:extLst>
          </p:cNvPr>
          <p:cNvSpPr txBox="1"/>
          <p:nvPr/>
        </p:nvSpPr>
        <p:spPr>
          <a:xfrm>
            <a:off x="628650" y="3672812"/>
            <a:ext cx="203057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b="1" dirty="0"/>
              <a:t>Guided by :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Rajaram P </a:t>
            </a:r>
          </a:p>
        </p:txBody>
      </p:sp>
      <p:pic>
        <p:nvPicPr>
          <p:cNvPr id="17" name="Picture 16" descr="Saveetha University">
            <a:extLst>
              <a:ext uri="{FF2B5EF4-FFF2-40B4-BE49-F238E27FC236}">
                <a16:creationId xmlns="" xmlns:a16="http://schemas.microsoft.com/office/drawing/2014/main" id="{4E65343F-AFCE-2551-4001-5C99A7852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74" y="237952"/>
            <a:ext cx="4062270" cy="831193"/>
          </a:xfrm>
          <a:prstGeom prst="rect">
            <a:avLst/>
          </a:prstGeom>
        </p:spPr>
      </p:pic>
      <p:pic>
        <p:nvPicPr>
          <p:cNvPr id="20" name="Picture 19" descr="Admissions — SIMATS">
            <a:extLst>
              <a:ext uri="{FF2B5EF4-FFF2-40B4-BE49-F238E27FC236}">
                <a16:creationId xmlns="" xmlns:a16="http://schemas.microsoft.com/office/drawing/2014/main" id="{76952476-05EE-764E-40A1-59AA06F4F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184697"/>
            <a:ext cx="4062270" cy="99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240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0" y="565066"/>
            <a:ext cx="914399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Introduction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Saveetha University">
            <a:extLst>
              <a:ext uri="{FF2B5EF4-FFF2-40B4-BE49-F238E27FC236}">
                <a16:creationId xmlns="" xmlns:a16="http://schemas.microsoft.com/office/drawing/2014/main" id="{136D5878-E3A8-758A-AA8F-A6722FC72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10" name="Picture 9" descr="Admissions — SIMATS">
            <a:extLst>
              <a:ext uri="{FF2B5EF4-FFF2-40B4-BE49-F238E27FC236}">
                <a16:creationId xmlns="" xmlns:a16="http://schemas.microsoft.com/office/drawing/2014/main" id="{94DCDD7C-829E-44A1-95C5-E26E65B00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463" y="90840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E17C43D-7953-5BC1-E54E-298B9B3C2AC4}"/>
              </a:ext>
            </a:extLst>
          </p:cNvPr>
          <p:cNvSpPr txBox="1"/>
          <p:nvPr/>
        </p:nvSpPr>
        <p:spPr>
          <a:xfrm>
            <a:off x="0" y="1164688"/>
            <a:ext cx="914399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Learning Management System (LMS) is a software application used to manage online learning activities. 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LMS platforms often require separate installations for each institution, leading to higher costs and maintenance. 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Multi-Tenant SaaS LMS enables multiple educational institutions to use a single cloud-based application while keeping each institution's data isolated and secure.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technologies provide scalability, reliability, and easy access from anywhere using the internet. 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v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0A68966B-5E45-C503-F811-0B60D711E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="" xmlns:a16="http://schemas.microsoft.com/office/drawing/2014/main" id="{20DA9B9C-9C1F-C1B6-ABBC-088B0E145F98}"/>
              </a:ext>
            </a:extLst>
          </p:cNvPr>
          <p:cNvSpPr/>
          <p:nvPr/>
        </p:nvSpPr>
        <p:spPr>
          <a:xfrm>
            <a:off x="254881" y="549240"/>
            <a:ext cx="8229600" cy="520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Abstract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="" xmlns:a16="http://schemas.microsoft.com/office/drawing/2014/main" id="{3F807FF4-D4C7-17C6-A289-C41F49E55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062270" cy="5205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="" xmlns:a16="http://schemas.microsoft.com/office/drawing/2014/main" id="{D77DB304-48B3-37F1-090D-E176DD71B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1F0D18-9889-2140-D361-BE8DAD21DC8D}"/>
              </a:ext>
            </a:extLst>
          </p:cNvPr>
          <p:cNvSpPr txBox="1"/>
          <p:nvPr/>
        </p:nvSpPr>
        <p:spPr>
          <a:xfrm>
            <a:off x="0" y="1069746"/>
            <a:ext cx="9143999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presents a Multi-Tenant SaaS-Based Student Learning Management System that allows multiple educational institutions to share a single cloud-hosted application while maintaining complete data isolation for each tenant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provides secure user authentication, role-based access control, course management, online assessments, and subscription billing. By adopting cloud computing techniques such as multi-tenancy, load balancing, and auto-scaling, the platform delivers high availability, reduced infrastructure costs, and simplified maintenance. 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improves learning accessibility, supports institutional growth, and offers an efficient Software-as-a-Service (SaaS) model for modern education.</a:t>
            </a:r>
          </a:p>
        </p:txBody>
      </p:sp>
    </p:spTree>
    <p:extLst>
      <p:ext uri="{BB962C8B-B14F-4D97-AF65-F5344CB8AC3E}">
        <p14:creationId xmlns:p14="http://schemas.microsoft.com/office/powerpoint/2010/main" val="82237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0" y="696348"/>
            <a:ext cx="9144000" cy="520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Problem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statements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0" y="1376874"/>
            <a:ext cx="9144000" cy="39266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Learning Management Systems require separate installations and servers for each institution, resulting in high deployment and maintenance costs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users, courses, and assessments across multiple institutions becomes difficult without secure data isolation and centralized administration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often struggle to handle increasing numbers of users during peak academic periods due to limited scalability and inefficient resource utilization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Existing LMS platforms often lack flexible subscription and billing management, making it difficult for institutions to choose plans based on their size, users, and resource requirements.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="" xmlns:a16="http://schemas.microsoft.com/office/drawing/2014/main" id="{F0CCF27A-B923-CFB2-E34D-92165293E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062270" cy="5205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="" xmlns:a16="http://schemas.microsoft.com/office/drawing/2014/main" id="{51F78C6F-61BB-F36E-4E4F-5F4B50855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407962"/>
            <a:ext cx="8229600" cy="643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400" dirty="0"/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="" xmlns:a16="http://schemas.microsoft.com/office/drawing/2014/main" id="{25D29680-F82F-FC94-45D9-9EE4EC3C5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19" y="70338"/>
            <a:ext cx="4333505" cy="4994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="" xmlns:a16="http://schemas.microsoft.com/office/drawing/2014/main" id="{22FF8738-7510-5CB8-1AAB-0EDE88D22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1400630-22AB-53EF-E8DD-7AB0B0AB996D}"/>
              </a:ext>
            </a:extLst>
          </p:cNvPr>
          <p:cNvSpPr txBox="1"/>
          <p:nvPr/>
        </p:nvSpPr>
        <p:spPr>
          <a:xfrm>
            <a:off x="474786" y="635528"/>
            <a:ext cx="7744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E6ECE05-AD0A-7F29-5B95-27F8F5F0C517}"/>
              </a:ext>
            </a:extLst>
          </p:cNvPr>
          <p:cNvSpPr txBox="1"/>
          <p:nvPr/>
        </p:nvSpPr>
        <p:spPr>
          <a:xfrm>
            <a:off x="0" y="1216857"/>
            <a:ext cx="9144000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cloud-based multi-tenant learning management system that securely serves multiple educational institutions using a single shared application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efficient course management, online assessments, and role-based access control for administrators, faculty, and students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scalability, availability, and cost efficiency using SaaS architecture, load balancing, cloud auto-scaling, and subscription billing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To ensure secure user authentication, tenant-level data isolation, and controlled access to learning resources based on user roles and institutional permissions.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University">
            <a:extLst>
              <a:ext uri="{FF2B5EF4-FFF2-40B4-BE49-F238E27FC236}">
                <a16:creationId xmlns="" xmlns:a16="http://schemas.microsoft.com/office/drawing/2014/main" id="{22FF8738-7510-5CB8-1AAB-0EDE88D22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3" name="Picture 2" descr="Admissions — SIMATS">
            <a:extLst>
              <a:ext uri="{FF2B5EF4-FFF2-40B4-BE49-F238E27FC236}">
                <a16:creationId xmlns="" xmlns:a16="http://schemas.microsoft.com/office/drawing/2014/main" id="{25D29680-F82F-FC94-45D9-9EE4EC3C5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19" y="70338"/>
            <a:ext cx="4333505" cy="4994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54924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Literature Review</a:t>
            </a: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581359"/>
              </p:ext>
            </p:extLst>
          </p:nvPr>
        </p:nvGraphicFramePr>
        <p:xfrm>
          <a:off x="207220" y="1074648"/>
          <a:ext cx="8732520" cy="400027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3249"/>
                <a:gridCol w="2088779"/>
                <a:gridCol w="1476723"/>
                <a:gridCol w="1607738"/>
                <a:gridCol w="1494036"/>
                <a:gridCol w="1561995"/>
              </a:tblGrid>
              <a:tr h="589300">
                <a:tc>
                  <a:txBody>
                    <a:bodyPr/>
                    <a:lstStyle/>
                    <a:p>
                      <a:pPr algn="ctr"/>
                      <a:r>
                        <a:rPr lang="en-IN" sz="1050" b="1" dirty="0" smtClean="0"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IN" sz="105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Journel</a:t>
                      </a:r>
                      <a:r>
                        <a:rPr lang="en-IN" sz="1050" b="1" dirty="0" smtClean="0">
                          <a:latin typeface="Times New Roman" pitchFamily="18" charset="0"/>
                          <a:cs typeface="Times New Roman" pitchFamily="18" charset="0"/>
                        </a:rPr>
                        <a:t>/Reference</a:t>
                      </a:r>
                      <a:endParaRPr lang="en-IN" sz="105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 dirty="0" smtClean="0">
                          <a:latin typeface="Times New Roman" pitchFamily="18" charset="0"/>
                          <a:cs typeface="Times New Roman" pitchFamily="18" charset="0"/>
                        </a:rPr>
                        <a:t>Algorithm/Technology</a:t>
                      </a:r>
                      <a:endParaRPr lang="en-IN" sz="105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 dirty="0" smtClean="0">
                          <a:latin typeface="Times New Roman" pitchFamily="18" charset="0"/>
                          <a:cs typeface="Times New Roman" pitchFamily="18" charset="0"/>
                        </a:rPr>
                        <a:t>Advantages</a:t>
                      </a:r>
                      <a:endParaRPr lang="en-IN" sz="105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 dirty="0" smtClean="0">
                          <a:latin typeface="Times New Roman" pitchFamily="18" charset="0"/>
                          <a:cs typeface="Times New Roman" pitchFamily="18" charset="0"/>
                        </a:rPr>
                        <a:t>Disadvantages</a:t>
                      </a:r>
                      <a:endParaRPr lang="en-IN" sz="105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 dirty="0" smtClean="0">
                          <a:latin typeface="Times New Roman" pitchFamily="18" charset="0"/>
                          <a:cs typeface="Times New Roman" pitchFamily="18" charset="0"/>
                        </a:rPr>
                        <a:t>Research Gap</a:t>
                      </a:r>
                      <a:endParaRPr lang="en-IN" sz="105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091434">
                <a:tc>
                  <a:txBody>
                    <a:bodyPr/>
                    <a:lstStyle/>
                    <a:p>
                      <a:pPr algn="just"/>
                      <a:r>
                        <a:rPr lang="en-IN" sz="1050" b="0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IN" sz="105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Azouzi</a:t>
                      </a:r>
                      <a:r>
                        <a:rPr lang="en-GB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&amp; </a:t>
                      </a:r>
                      <a:r>
                        <a:rPr lang="en-GB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Ghannouchi</a:t>
                      </a:r>
                      <a:r>
                        <a:rPr lang="en-GB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, International Journal of Computer Applications, 2025 – </a:t>
                      </a:r>
                      <a:r>
                        <a:rPr lang="en-GB" sz="1050" b="0" i="1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Designing Multi-Tenant E-Learning Systems in the Cloud: A Process-Oriented Approach for Higher Education</a:t>
                      </a:r>
                      <a:endParaRPr lang="en-IN" sz="105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Multi-Tenant </a:t>
                      </a:r>
                      <a:r>
                        <a:rPr lang="en-GB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SaaS</a:t>
                      </a:r>
                      <a:r>
                        <a:rPr lang="en-GB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, Cloud Computing, BPFM, Software Product Line (SPL), Business Process Management (BPM)</a:t>
                      </a:r>
                      <a:endParaRPr lang="en-IN" sz="105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Supports multiple institutions, flexible deployment, dynamic scalability, and efficient resource sharing.</a:t>
                      </a:r>
                      <a:endParaRPr lang="en-IN" sz="105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Focuses mainly on configurable learning processes and architecture; detailed user management and billing are not covered.</a:t>
                      </a:r>
                      <a:endParaRPr lang="en-IN" sz="105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No integrated user authentication, role-based user management, and subscription billing in a complete LMS.</a:t>
                      </a:r>
                      <a:endParaRPr lang="en-IN" sz="105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101073">
                <a:tc>
                  <a:txBody>
                    <a:bodyPr/>
                    <a:lstStyle/>
                    <a:p>
                      <a:pPr algn="just"/>
                      <a:r>
                        <a:rPr lang="en-IN" sz="1050" b="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IN" sz="105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Yang, Scalable Computing: Practice and Experience, 2024 – </a:t>
                      </a:r>
                      <a:r>
                        <a:rPr lang="en-GB" sz="1050" b="0" i="1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Design and Implementation of </a:t>
                      </a:r>
                      <a:r>
                        <a:rPr lang="en-GB" sz="1050" b="0" i="1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SaaS</a:t>
                      </a:r>
                      <a:r>
                        <a:rPr lang="en-GB" sz="1050" b="0" i="1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Online Education Management System for Expanding LMS System</a:t>
                      </a:r>
                      <a:endParaRPr lang="en-IN" sz="105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SaaS</a:t>
                      </a:r>
                      <a:r>
                        <a:rPr lang="en-GB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, LMS, Automatic Paper Formation, Credibility Evaluation, Correlation Analysis</a:t>
                      </a:r>
                      <a:endParaRPr lang="en-IN" sz="105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Provides a </a:t>
                      </a:r>
                      <a:r>
                        <a:rPr lang="en-GB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SaaS</a:t>
                      </a:r>
                      <a:r>
                        <a:rPr lang="en-GB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-based LMS and studies service credibility, response time, latency, and other service attributes.</a:t>
                      </a:r>
                      <a:endParaRPr lang="en-IN" sz="105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Concentrates on LMS service evaluation and automatic paper formation rather than complete multi-tenant architecture.</a:t>
                      </a:r>
                      <a:endParaRPr lang="en-IN" sz="105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Limited focus on tenant-level data isolation and role-based access across multiple institutions.</a:t>
                      </a:r>
                      <a:endParaRPr lang="en-IN" sz="105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218464">
                <a:tc>
                  <a:txBody>
                    <a:bodyPr/>
                    <a:lstStyle/>
                    <a:p>
                      <a:pPr algn="just"/>
                      <a:r>
                        <a:rPr lang="en-IN" sz="1050" b="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IN" sz="105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Bilur</a:t>
                      </a:r>
                      <a:r>
                        <a:rPr lang="en-GB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&amp; </a:t>
                      </a:r>
                      <a:r>
                        <a:rPr lang="en-GB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Salunkhe</a:t>
                      </a:r>
                      <a:r>
                        <a:rPr lang="en-GB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, International Journal of Advances in Engineering and Management, 2024 – </a:t>
                      </a:r>
                      <a:r>
                        <a:rPr lang="en-GB" sz="1050" b="0" i="1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Multi-Tenant yet Customizable Cloud Native </a:t>
                      </a:r>
                      <a:r>
                        <a:rPr lang="en-GB" sz="1050" b="0" i="1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SaaS</a:t>
                      </a:r>
                      <a:r>
                        <a:rPr lang="en-GB" sz="1050" b="0" i="1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Web Application leveraging AIML: Architecture &amp; Strategies</a:t>
                      </a:r>
                      <a:r>
                        <a:rPr lang="en-GB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 </a:t>
                      </a:r>
                      <a:endParaRPr lang="en-IN" sz="105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Cloud-Native </a:t>
                      </a:r>
                      <a:r>
                        <a:rPr lang="fr-FR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SaaS</a:t>
                      </a:r>
                      <a:r>
                        <a:rPr lang="fr-FR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, </a:t>
                      </a:r>
                      <a:r>
                        <a:rPr lang="fr-FR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Microservices</a:t>
                      </a:r>
                      <a:r>
                        <a:rPr lang="fr-FR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, AIML, </a:t>
                      </a:r>
                      <a:r>
                        <a:rPr lang="fr-FR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Dynamic</a:t>
                      </a:r>
                      <a:r>
                        <a:rPr lang="fr-FR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UI, Flexible RBAC</a:t>
                      </a:r>
                      <a:endParaRPr lang="en-IN" sz="105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Provides tenant-specific customization, flexible RBAC, scalability, and independent AI/ML service scaling.</a:t>
                      </a:r>
                      <a:endParaRPr lang="en-IN" sz="105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The proposed system is focused on an educational ERP scenario and introduces additional AIML/customization complexity.</a:t>
                      </a:r>
                      <a:endParaRPr lang="en-IN" sz="105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Does not provide a complete LMS combining tenant management, course/assessment functions, and subscription billing.</a:t>
                      </a:r>
                      <a:endParaRPr lang="en-IN" sz="105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7077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University">
            <a:extLst>
              <a:ext uri="{FF2B5EF4-FFF2-40B4-BE49-F238E27FC236}">
                <a16:creationId xmlns="" xmlns:a16="http://schemas.microsoft.com/office/drawing/2014/main" id="{22FF8738-7510-5CB8-1AAB-0EDE88D22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3" name="Picture 2" descr="Admissions — SIMATS">
            <a:extLst>
              <a:ext uri="{FF2B5EF4-FFF2-40B4-BE49-F238E27FC236}">
                <a16:creationId xmlns="" xmlns:a16="http://schemas.microsoft.com/office/drawing/2014/main" id="{25D29680-F82F-FC94-45D9-9EE4EC3C5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19" y="70338"/>
            <a:ext cx="4333505" cy="49940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137219"/>
              </p:ext>
            </p:extLst>
          </p:nvPr>
        </p:nvGraphicFramePr>
        <p:xfrm>
          <a:off x="133322" y="1055370"/>
          <a:ext cx="8838579" cy="39509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27699"/>
                <a:gridCol w="2082800"/>
                <a:gridCol w="1245221"/>
                <a:gridCol w="1375438"/>
                <a:gridCol w="1351901"/>
                <a:gridCol w="2255520"/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sz="1050" b="1" dirty="0" smtClean="0"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IN" sz="105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050" b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Journel</a:t>
                      </a:r>
                      <a:r>
                        <a:rPr lang="en-IN" sz="1050" b="1" dirty="0" smtClean="0">
                          <a:latin typeface="Times New Roman" pitchFamily="18" charset="0"/>
                          <a:cs typeface="Times New Roman" pitchFamily="18" charset="0"/>
                        </a:rPr>
                        <a:t>/Reference</a:t>
                      </a:r>
                      <a:endParaRPr lang="en-IN" sz="105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050" b="1" dirty="0" smtClean="0">
                          <a:latin typeface="Times New Roman" pitchFamily="18" charset="0"/>
                          <a:cs typeface="Times New Roman" pitchFamily="18" charset="0"/>
                        </a:rPr>
                        <a:t>Algorithm/Technology</a:t>
                      </a:r>
                      <a:endParaRPr lang="en-IN" sz="105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050" b="1" dirty="0" smtClean="0">
                          <a:latin typeface="Times New Roman" pitchFamily="18" charset="0"/>
                          <a:cs typeface="Times New Roman" pitchFamily="18" charset="0"/>
                        </a:rPr>
                        <a:t>Advantages</a:t>
                      </a:r>
                      <a:endParaRPr lang="en-IN" sz="105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050" b="1" dirty="0" smtClean="0">
                          <a:latin typeface="Times New Roman" pitchFamily="18" charset="0"/>
                          <a:cs typeface="Times New Roman" pitchFamily="18" charset="0"/>
                        </a:rPr>
                        <a:t>Disadvantages</a:t>
                      </a:r>
                      <a:endParaRPr lang="en-IN" sz="105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050" b="1" dirty="0" smtClean="0">
                          <a:latin typeface="Times New Roman" pitchFamily="18" charset="0"/>
                          <a:cs typeface="Times New Roman" pitchFamily="18" charset="0"/>
                        </a:rPr>
                        <a:t>Research Gap</a:t>
                      </a:r>
                      <a:endParaRPr lang="en-IN" sz="105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276350">
                <a:tc>
                  <a:txBody>
                    <a:bodyPr/>
                    <a:lstStyle/>
                    <a:p>
                      <a:pPr algn="just"/>
                      <a:r>
                        <a:rPr lang="en-IN" sz="1050" b="0" i="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IN" sz="1050" b="0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050" b="0" i="0" kern="120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Hattab</a:t>
                      </a:r>
                      <a:r>
                        <a:rPr lang="en-GB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&amp; </a:t>
                      </a:r>
                      <a:r>
                        <a:rPr lang="en-GB" sz="1050" b="0" i="0" kern="120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Belalem</a:t>
                      </a:r>
                      <a:r>
                        <a:rPr lang="en-GB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Journal of King Saud University Computer and Information Sciences, 2023 – Modular Models for Systems Based on Multi-Tenant Services: A Multi-Level Petri-Net-Based Approach</a:t>
                      </a:r>
                      <a:endParaRPr lang="en-IN" sz="1050" b="0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Multi-Tenant </a:t>
                      </a:r>
                      <a:r>
                        <a:rPr lang="en-IN" sz="1050" b="0" i="0" kern="120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SaaS</a:t>
                      </a:r>
                      <a:r>
                        <a:rPr lang="en-IN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Multi-Level Petri Nets, Variability </a:t>
                      </a:r>
                      <a:r>
                        <a:rPr lang="en-IN" sz="1050" b="0" i="0" kern="120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Modeling</a:t>
                      </a:r>
                      <a:r>
                        <a:rPr lang="en-IN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SLA/</a:t>
                      </a:r>
                      <a:r>
                        <a:rPr lang="en-IN" sz="1050" b="0" i="0" kern="120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QoS</a:t>
                      </a:r>
                      <a:endParaRPr lang="en-IN" sz="1050" b="0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Helps model complex multi-tenant </a:t>
                      </a:r>
                      <a:r>
                        <a:rPr lang="en-GB" sz="1050" b="0" i="0" kern="120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SaaS</a:t>
                      </a:r>
                      <a:r>
                        <a:rPr lang="en-GB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services and manage variability and performance requirements between tenants</a:t>
                      </a:r>
                      <a:endParaRPr lang="en-IN" sz="1050" b="0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Primarily focuses on </a:t>
                      </a:r>
                      <a:r>
                        <a:rPr lang="en-GB" sz="1050" b="0" i="0" kern="120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modeling</a:t>
                      </a:r>
                      <a:r>
                        <a:rPr lang="en-GB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multi-tenant services; it does not implement an educational LMS with users and courses.</a:t>
                      </a:r>
                      <a:endParaRPr lang="en-IN" sz="1050" b="0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 practical LMS user-management model with authentication, roles, and educational services.</a:t>
                      </a:r>
                      <a:endParaRPr lang="en-IN" sz="1050" b="0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184910">
                <a:tc>
                  <a:txBody>
                    <a:bodyPr/>
                    <a:lstStyle/>
                    <a:p>
                      <a:pPr algn="just"/>
                      <a:r>
                        <a:rPr lang="en-IN" sz="1050" b="0" i="0" dirty="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en-IN" sz="1050" b="0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050" b="0" i="0" kern="120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Guettala</a:t>
                      </a:r>
                      <a:r>
                        <a:rPr lang="en-IN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et al., IEEE ACIT 2022 – Cloud Ubiquitous Learning Approach Based on Multi-Agents System</a:t>
                      </a:r>
                      <a:endParaRPr lang="en-IN" sz="1050" b="0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Cloud Computing, Multi-Agent System, Multi-Tenancy, Virtualization</a:t>
                      </a:r>
                      <a:endParaRPr lang="en-IN" sz="1050" b="0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Supports adaptive and personalized learning while using multi-tenancy to share software and improve resource efficiency and learner isolation.</a:t>
                      </a:r>
                      <a:endParaRPr lang="en-IN" sz="1050" b="0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Focuses on ubiquitous/personalized learning and multi-agent architecture rather than complete </a:t>
                      </a:r>
                      <a:r>
                        <a:rPr lang="en-GB" sz="1050" b="0" i="0" kern="120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SaaS</a:t>
                      </a:r>
                      <a:r>
                        <a:rPr lang="en-GB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LMS administration.</a:t>
                      </a:r>
                      <a:endParaRPr lang="en-IN" sz="1050" b="0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Does not combine centralized tenant administration, role-based user management, and subscription-based </a:t>
                      </a:r>
                      <a:r>
                        <a:rPr lang="en-GB" sz="1050" b="0" i="0" kern="120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SaaS</a:t>
                      </a:r>
                      <a:r>
                        <a:rPr lang="en-GB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services.</a:t>
                      </a:r>
                      <a:endParaRPr lang="en-IN" sz="1050" b="0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sz="1050" b="0" i="0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en-IN" sz="1050" b="0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050" b="0" i="0" kern="120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Soesanto</a:t>
                      </a:r>
                      <a:r>
                        <a:rPr lang="en-GB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et al., </a:t>
                      </a:r>
                      <a:r>
                        <a:rPr lang="en-GB" sz="1050" b="0" i="0" kern="120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Jurnal</a:t>
                      </a:r>
                      <a:r>
                        <a:rPr lang="en-GB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GB" sz="1050" b="0" i="0" kern="120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Teknologi</a:t>
                      </a:r>
                      <a:r>
                        <a:rPr lang="en-GB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GB" sz="1050" b="0" i="0" kern="120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Pendidikan</a:t>
                      </a:r>
                      <a:r>
                        <a:rPr lang="en-GB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2023 – Implementation of Software as a Service to Increase the Scalability of the </a:t>
                      </a:r>
                      <a:r>
                        <a:rPr lang="en-GB" sz="1050" b="0" i="0" kern="120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Merdeka</a:t>
                      </a:r>
                      <a:r>
                        <a:rPr lang="en-GB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GB" sz="1050" b="0" i="0" kern="120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Belajar</a:t>
                      </a:r>
                      <a:r>
                        <a:rPr lang="en-GB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Policy in Indonesia</a:t>
                      </a:r>
                      <a:endParaRPr lang="en-IN" sz="1050" b="0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it-IT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Multi-Scheme SaaS, E-Learning, Multischema Database</a:t>
                      </a:r>
                      <a:endParaRPr lang="en-IN" sz="1050" b="0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Improves e-learning scalability and supports multiple institutions through </a:t>
                      </a:r>
                      <a:r>
                        <a:rPr lang="en-GB" sz="1050" b="0" i="0" kern="120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SaaS</a:t>
                      </a:r>
                      <a:endParaRPr lang="en-IN" sz="1050" b="0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Focuses mainly on scalability and e-learning implementation</a:t>
                      </a:r>
                      <a:endParaRPr lang="en-IN" sz="1050" b="0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050" b="0" i="0" kern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 detailed role-based access control and tenant-level user management</a:t>
                      </a:r>
                      <a:endParaRPr lang="en-IN" sz="1050" b="0" i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0" y="54924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Literature </a:t>
            </a: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Review (Continue)</a:t>
            </a: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525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0" y="549240"/>
            <a:ext cx="91440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Multi-Tenant Architecture &amp; User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="" xmlns:a16="http://schemas.microsoft.com/office/drawing/2014/main" id="{04BFD0C4-588B-BD17-7364-B0E5A6D76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="" xmlns:a16="http://schemas.microsoft.com/office/drawing/2014/main" id="{15C1243B-D1AD-C3B3-FD12-BEF7D4469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965200"/>
            <a:ext cx="914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Multi-Tenant Architecture: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Supports multiple institutions through a single shared </a:t>
            </a:r>
            <a:r>
              <a:rPr lang="en-GB" dirty="0" err="1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application.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Tenant Data Isolation: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Separates each institution’s users and data using a unique Tenant ID.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Secure Authentication: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Verifies user credentials before granting access to protected resources.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Role-Based Access Control: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Assigns specific permissions to Administrators, Faculty, and Students.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Tenant-Aware Authorization: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Validates both the user role and tenant identity before allowing resource access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Centralized User Management: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Enables administrators to manage user profiles, roles, and account status within their institution.</a:t>
            </a:r>
          </a:p>
          <a:p>
            <a:pPr marL="285750" indent="-285750" algn="just">
              <a:buFont typeface="Wingdings" pitchFamily="2" charset="2"/>
              <a:buChar char="v"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0" y="4158000"/>
            <a:ext cx="9144000" cy="87376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0" y="4160560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Features</a:t>
            </a:r>
          </a:p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Tenant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Registration | User Authentication | Tenant ID Isolation | RBAC | User Profile Management | Secure Login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University">
            <a:extLst>
              <a:ext uri="{FF2B5EF4-FFF2-40B4-BE49-F238E27FC236}">
                <a16:creationId xmlns="" xmlns:a16="http://schemas.microsoft.com/office/drawing/2014/main" id="{15C1243B-D1AD-C3B3-FD12-BEF7D4469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3" name="Picture 2" descr="Admissions — SIMATS">
            <a:extLst>
              <a:ext uri="{FF2B5EF4-FFF2-40B4-BE49-F238E27FC236}">
                <a16:creationId xmlns="" xmlns:a16="http://schemas.microsoft.com/office/drawing/2014/main" id="{04BFD0C4-588B-BD17-7364-B0E5A6D76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74168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Module 1: Output</a:t>
            </a:r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43280" y="1513840"/>
            <a:ext cx="3464560" cy="28448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AF0CAFAE-2A3D-7C29-7330-A2CBB007A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470" y="1601972"/>
            <a:ext cx="2538179" cy="26685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765040" y="1513840"/>
            <a:ext cx="3881120" cy="28448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B161D318-822D-AA58-0160-0CDB0F444A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6313" y="1601972"/>
            <a:ext cx="3133447" cy="266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168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697568F4-9537-9BBE-8E77-0E944199A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="" xmlns:a16="http://schemas.microsoft.com/office/drawing/2014/main" id="{D731462E-ADC6-4F16-DB5F-A47D4D4CEE02}"/>
              </a:ext>
            </a:extLst>
          </p:cNvPr>
          <p:cNvSpPr/>
          <p:nvPr/>
        </p:nvSpPr>
        <p:spPr>
          <a:xfrm>
            <a:off x="0" y="463721"/>
            <a:ext cx="91440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Course Content &amp; Assessment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="" xmlns:a16="http://schemas.microsoft.com/office/drawing/2014/main" id="{84068C86-17F1-551D-B9DF-D917A8D46A55}"/>
              </a:ext>
            </a:extLst>
          </p:cNvPr>
          <p:cNvSpPr/>
          <p:nvPr/>
        </p:nvSpPr>
        <p:spPr>
          <a:xfrm>
            <a:off x="457200" y="1361049"/>
            <a:ext cx="802561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="" xmlns:a16="http://schemas.microsoft.com/office/drawing/2014/main" id="{A2EB42FF-58FD-8209-D7CB-72F14A489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="" xmlns:a16="http://schemas.microsoft.com/office/drawing/2014/main" id="{5D3C0A79-0557-F009-12CB-1D76CB464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880931"/>
            <a:ext cx="9144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Course Management: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Enables faculty to create, organize, update, and publish courses with structured modules and lessons.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Learning Content Management: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Supports uploading and organizing PDFs, documents, videos, links, and other learning resources. 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Student </a:t>
            </a:r>
            <a:r>
              <a:rPr lang="en-GB" b="1" dirty="0" err="1">
                <a:latin typeface="Times New Roman" pitchFamily="18" charset="0"/>
                <a:cs typeface="Times New Roman" pitchFamily="18" charset="0"/>
              </a:rPr>
              <a:t>Enrollment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Allows students to </a:t>
            </a:r>
            <a:r>
              <a:rPr lang="en-GB" dirty="0" err="1">
                <a:latin typeface="Times New Roman" pitchFamily="18" charset="0"/>
                <a:cs typeface="Times New Roman" pitchFamily="18" charset="0"/>
              </a:rPr>
              <a:t>enroll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in assigned courses and access authorized learning materials.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Assessment Management: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Enables faculty to create quizzes, assignments, and online 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assessments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with configurable marks and deadlines. 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Automated Evaluation: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Automatically evaluates objective questions and calculates student scores, reducing manual grading effort. 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Performance Tracking: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Maintains assessment results, grades, submissions, and course progress for monitoring student performance.</a:t>
            </a:r>
          </a:p>
          <a:p>
            <a:pPr marL="285750" indent="-285750" algn="just">
              <a:buFont typeface="Wingdings" pitchFamily="2" charset="2"/>
              <a:buChar char="v"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0" y="4266965"/>
            <a:ext cx="9143999" cy="82973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" y="4220170"/>
            <a:ext cx="91439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Features</a:t>
            </a:r>
          </a:p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Course Creation &amp; Management | Learning Material Upload | Student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Enrollment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| Quiz &amp; Assignment Management | Automated Evaluation &amp; Grading | Result &amp; Progress Tracking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18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University">
            <a:extLst>
              <a:ext uri="{FF2B5EF4-FFF2-40B4-BE49-F238E27FC236}">
                <a16:creationId xmlns="" xmlns:a16="http://schemas.microsoft.com/office/drawing/2014/main" id="{5D3C0A79-0557-F009-12CB-1D76CB464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3" name="Picture 2" descr="Admissions — SIMATS">
            <a:extLst>
              <a:ext uri="{FF2B5EF4-FFF2-40B4-BE49-F238E27FC236}">
                <a16:creationId xmlns="" xmlns:a16="http://schemas.microsoft.com/office/drawing/2014/main" id="{A2EB42FF-58FD-8209-D7CB-72F14A489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72136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Module </a:t>
            </a: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2: Output</a:t>
            </a: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032000" y="1371600"/>
            <a:ext cx="5283200" cy="326136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120" y="1539240"/>
            <a:ext cx="4632960" cy="2926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6022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964A06C2-C02C-6D48-8412-CE561BA82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="" xmlns:a16="http://schemas.microsoft.com/office/drawing/2014/main" id="{B2AF1F51-C6EB-0202-333A-01EB408305AD}"/>
              </a:ext>
            </a:extLst>
          </p:cNvPr>
          <p:cNvSpPr/>
          <p:nvPr/>
        </p:nvSpPr>
        <p:spPr>
          <a:xfrm>
            <a:off x="0" y="458876"/>
            <a:ext cx="91440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Cloud Deployment &amp; Subscription Billing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="" xmlns:a16="http://schemas.microsoft.com/office/drawing/2014/main" id="{DA9519EB-7E14-9F58-4AE5-7851FCBBC64D}"/>
              </a:ext>
            </a:extLst>
          </p:cNvPr>
          <p:cNvSpPr/>
          <p:nvPr/>
        </p:nvSpPr>
        <p:spPr>
          <a:xfrm>
            <a:off x="0" y="1361049"/>
            <a:ext cx="9164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="" xmlns:a16="http://schemas.microsoft.com/office/drawing/2014/main" id="{7447675B-4BCD-8C2F-0BFF-DB23062B1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="" xmlns:a16="http://schemas.microsoft.com/office/drawing/2014/main" id="{24D146C1-B978-92CE-E606-DC8DF5939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880931"/>
            <a:ext cx="9144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Cloud Deployment: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Deploys the LMS on cloud infrastructure for centralized access, availability, and easier maintenance.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Scalable Infrastructure: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Uses load balancing and auto-scaling to handle increasing users and peak academic workloads.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Tenant Provisioning: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Enables new institutions to be </a:t>
            </a:r>
            <a:r>
              <a:rPr lang="en-GB" dirty="0" err="1">
                <a:latin typeface="Times New Roman" pitchFamily="18" charset="0"/>
                <a:cs typeface="Times New Roman" pitchFamily="18" charset="0"/>
              </a:rPr>
              <a:t>onboarded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and configured efficiently within the </a:t>
            </a:r>
            <a:r>
              <a:rPr lang="en-GB" dirty="0" err="1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platform. 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Subscription Plan Management: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Provides different plans based on institutional requirements, users, features, and resource limits.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Billing &amp; Usage Tracking: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Maintains subscription status, usage information, billing records, and payment details for each tenant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Monitoring &amp; Availability: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Monitors cloud resources and application performance to maintain reliable service for all tenants</a:t>
            </a:r>
          </a:p>
          <a:p>
            <a:pPr marL="285750" indent="-285750" algn="just">
              <a:buFont typeface="Wingdings" pitchFamily="2" charset="2"/>
              <a:buChar char="v"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0" y="4210187"/>
            <a:ext cx="9164320" cy="92333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0" y="4210187"/>
            <a:ext cx="91643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Features</a:t>
            </a:r>
          </a:p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Cloud Deployment | Load Balancing &amp; Auto-scaling | Tenant Provisioning | Subscription Plan Management | Billing &amp; Usage Tracking | Cloud Monitoring &amp; Availability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216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University">
            <a:extLst>
              <a:ext uri="{FF2B5EF4-FFF2-40B4-BE49-F238E27FC236}">
                <a16:creationId xmlns="" xmlns:a16="http://schemas.microsoft.com/office/drawing/2014/main" id="{24D146C1-B978-92CE-E606-DC8DF5939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3" name="Picture 2" descr="Admissions — SIMATS">
            <a:extLst>
              <a:ext uri="{FF2B5EF4-FFF2-40B4-BE49-F238E27FC236}">
                <a16:creationId xmlns="" xmlns:a16="http://schemas.microsoft.com/office/drawing/2014/main" id="{7447675B-4BCD-8C2F-0BFF-DB23062B1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79248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Module </a:t>
            </a: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3: Output</a:t>
            </a: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432560" y="1455420"/>
            <a:ext cx="6606540" cy="341376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470" y="1592579"/>
            <a:ext cx="5711190" cy="313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5823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90810" y="3886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0" y="984012"/>
            <a:ext cx="9144000" cy="4159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Multi-Tenancy Architecture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– Supports multiple institutions within a shared application.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b="1" dirty="0" err="1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 Architecture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– Provides the LMS as a centralized cloud-based service.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Role-Based Access Control (RBAC)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– Controls access based on Administrator, Faculty, and Student roles.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JWT-Based Authentication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– Provides secure user authentication and session management.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Containerization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– Uses </a:t>
            </a:r>
            <a:r>
              <a:rPr lang="en-GB" dirty="0" err="1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GB" dirty="0" err="1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Compose for consistent application deployment.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Cloud Deployment &amp; Scalability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– Uses AWS for cloud hosting and scalable application deployment.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Subscription &amp; Payment Management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– Uses Stripe for subscription plans and online billing.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="" xmlns:a16="http://schemas.microsoft.com/office/drawing/2014/main" id="{EAD7DE1C-7AC9-0271-EED6-CEECE7E19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49237"/>
            <a:ext cx="4062270" cy="48533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="" xmlns:a16="http://schemas.microsoft.com/office/drawing/2014/main" id="{BBF5D320-9BA9-E228-0E05-56BE499CB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6A2BB36-BC9F-C98C-6E6A-3DD3A6CC78DA}"/>
              </a:ext>
            </a:extLst>
          </p:cNvPr>
          <p:cNvSpPr txBox="1"/>
          <p:nvPr/>
        </p:nvSpPr>
        <p:spPr>
          <a:xfrm>
            <a:off x="0" y="61141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0" y="464234"/>
            <a:ext cx="9144000" cy="587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Applications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="" xmlns:a16="http://schemas.microsoft.com/office/drawing/2014/main" id="{84425623-525D-AA26-9F21-A98065FA2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70338"/>
            <a:ext cx="4114800" cy="506437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="" xmlns:a16="http://schemas.microsoft.com/office/drawing/2014/main" id="{AC4644FE-3C24-6480-0D3A-3F26E0F39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2" name="Picture 1" descr="Why a multi-tenant LMS is the best choice for your organisation - Moodle">
            <a:extLst>
              <a:ext uri="{FF2B5EF4-FFF2-40B4-BE49-F238E27FC236}">
                <a16:creationId xmlns="" xmlns:a16="http://schemas.microsoft.com/office/drawing/2014/main" id="{0D133C38-E808-7355-31B8-ECE498BAAF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613"/>
          <a:stretch>
            <a:fillRect/>
          </a:stretch>
        </p:blipFill>
        <p:spPr>
          <a:xfrm>
            <a:off x="6019800" y="1112520"/>
            <a:ext cx="3040380" cy="37566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998220"/>
            <a:ext cx="591396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Schools &amp; Colleges: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Centralized management of students, faculty, courses, and assessments.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Universities: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Supports multiple departments, campuses, and institutions through a shared </a:t>
            </a:r>
            <a:r>
              <a:rPr lang="en-GB" dirty="0" err="1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platform.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Coaching &amp; Training Institutes: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Manages courses, batches, learning materials, tests, and student performance.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Corporate Training: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Delivers employee training, assessments, certifications, and progress tracking.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Online Education Platforms: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Provides scalable course delivery, user management, assessments, and subscription-based access.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Multi-Institution </a:t>
            </a:r>
            <a:r>
              <a:rPr lang="en-GB" b="1" dirty="0" err="1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Enables multiple organizations to use one cloud platform with tenant-wise data isolation and administration</a:t>
            </a:r>
          </a:p>
          <a:p>
            <a:pPr marL="285750" indent="-285750" algn="just">
              <a:buFont typeface="Wingdings" pitchFamily="2" charset="2"/>
              <a:buChar char="v"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University">
            <a:extLst>
              <a:ext uri="{FF2B5EF4-FFF2-40B4-BE49-F238E27FC236}">
                <a16:creationId xmlns="" xmlns:a16="http://schemas.microsoft.com/office/drawing/2014/main" id="{AC4644FE-3C24-6480-0D3A-3F26E0F39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3" name="Picture 2" descr="Admissions — SIMATS">
            <a:extLst>
              <a:ext uri="{FF2B5EF4-FFF2-40B4-BE49-F238E27FC236}">
                <a16:creationId xmlns="" xmlns:a16="http://schemas.microsoft.com/office/drawing/2014/main" id="{84425623-525D-AA26-9F21-A98065FA2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70338"/>
            <a:ext cx="4114800" cy="5064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86360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Future Scope</a:t>
            </a: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440021"/>
            <a:ext cx="9144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AI-Powered Personalization: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Recommend courses, learning materials, and assessments based on individual student performance. 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Advanced Learning Analytics: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Use predictive analytics to identify weak-performing and at-risk students. 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AI-Based Assessment: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Introduce automated grading, intelligent feedback, and AI-generated quizzes. 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Mobile &amp; Offline Learning: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Provide mobile applications and low-bandwidth/offline access for continuous learning. 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Advanced Cloud Scaling: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Implement intelligent auto-scaling and resource optimization as the number of tenants and users increases. 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Third-Party Integration: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Integrate payment gateways, university ERP/SIS, video-conferencing, SSO, and other educational services through APIs.</a:t>
            </a:r>
          </a:p>
          <a:p>
            <a:pPr marL="285750" indent="-285750" algn="just">
              <a:buFont typeface="Wingdings" pitchFamily="2" charset="2"/>
              <a:buChar char="v"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89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0" y="458971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Conclusion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0" y="1280759"/>
            <a:ext cx="9144000" cy="3771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sz="1600" b="1" dirty="0" smtClean="0">
                <a:latin typeface="Times New Roman" pitchFamily="18" charset="0"/>
                <a:cs typeface="Times New Roman" pitchFamily="18" charset="0"/>
              </a:rPr>
              <a:t>Provides </a:t>
            </a:r>
            <a:r>
              <a:rPr lang="en-GB" sz="1600" b="1" dirty="0">
                <a:latin typeface="Times New Roman" pitchFamily="18" charset="0"/>
                <a:cs typeface="Times New Roman" pitchFamily="18" charset="0"/>
              </a:rPr>
              <a:t>a secure multi-tenant LMS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 that enables multiple institutions to share a cloud platform while maintaining tenant-wise data isolation and role-based access.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sz="1600" b="1" dirty="0">
                <a:latin typeface="Times New Roman" pitchFamily="18" charset="0"/>
                <a:cs typeface="Times New Roman" pitchFamily="18" charset="0"/>
              </a:rPr>
              <a:t>Integrates complete learning management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 through course content, online assessments, student performance tracking, and centralized administration.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sz="1600" b="1" dirty="0">
                <a:latin typeface="Times New Roman" pitchFamily="18" charset="0"/>
                <a:cs typeface="Times New Roman" pitchFamily="18" charset="0"/>
              </a:rPr>
              <a:t>Offers a scalable </a:t>
            </a:r>
            <a:r>
              <a:rPr lang="en-GB" sz="1600" b="1" dirty="0" err="1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GB" sz="1600" b="1" dirty="0">
                <a:latin typeface="Times New Roman" pitchFamily="18" charset="0"/>
                <a:cs typeface="Times New Roman" pitchFamily="18" charset="0"/>
              </a:rPr>
              <a:t> solution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 with cloud deployment, subscription management, and billing, making the system suitable for growing educational institutions</a:t>
            </a:r>
            <a:r>
              <a:rPr lang="en-GB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sz="1600" b="1" dirty="0"/>
              <a:t>Enhances accessibility and efficiency</a:t>
            </a:r>
            <a:r>
              <a:rPr lang="en-GB" sz="1600" dirty="0"/>
              <a:t> by providing anytime, anywhere access to learning resources through a centralized cloud-based platform</a:t>
            </a:r>
            <a:r>
              <a:rPr lang="en-GB" sz="1600" dirty="0" smtClean="0"/>
              <a:t>.</a:t>
            </a:r>
            <a:endParaRPr lang="en-GB" sz="16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="" xmlns:a16="http://schemas.microsoft.com/office/drawing/2014/main" id="{AB78A499-A10B-1964-FF2B-15764B2F7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70339"/>
            <a:ext cx="4062270" cy="471267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="" xmlns:a16="http://schemas.microsoft.com/office/drawing/2014/main" id="{B7E3E331-02E3-7373-5BCE-248788A12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0810" y="39741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References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64781" y="1109784"/>
            <a:ext cx="866112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Yasmeen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, F., 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Pandey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, S., 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Goel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, P., Singh, B.P. and 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Mitra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, A.R., 2026, May. A Scalable 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 Framework for AI-Enabled Personalized Education: System Design, Implementation, and Evaluation. In </a:t>
            </a:r>
            <a:r>
              <a:rPr lang="en-IN" sz="1600" i="1" dirty="0">
                <a:latin typeface="Times New Roman" pitchFamily="18" charset="0"/>
                <a:cs typeface="Times New Roman" pitchFamily="18" charset="0"/>
              </a:rPr>
              <a:t>2026 IEEE 6th International Conference on Computing, Power, and Communication Technologies (IC2PCT)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 (pp. 1154-1160). IEEE</a:t>
            </a: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Wang, H., </a:t>
            </a:r>
            <a:r>
              <a:rPr lang="en-GB" sz="1600" dirty="0" err="1">
                <a:latin typeface="Times New Roman" pitchFamily="18" charset="0"/>
                <a:cs typeface="Times New Roman" pitchFamily="18" charset="0"/>
              </a:rPr>
              <a:t>Zheng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, H. and </a:t>
            </a:r>
            <a:r>
              <a:rPr lang="en-GB" sz="1600" dirty="0" err="1">
                <a:latin typeface="Times New Roman" pitchFamily="18" charset="0"/>
                <a:cs typeface="Times New Roman" pitchFamily="18" charset="0"/>
              </a:rPr>
              <a:t>Meng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, F., 2018, October. Application of </a:t>
            </a:r>
            <a:r>
              <a:rPr lang="en-GB" sz="1600" dirty="0" err="1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 mode in customizable graduation design management system. In </a:t>
            </a:r>
            <a:r>
              <a:rPr lang="en-GB" sz="1600" i="1" dirty="0">
                <a:latin typeface="Times New Roman" pitchFamily="18" charset="0"/>
                <a:cs typeface="Times New Roman" pitchFamily="18" charset="0"/>
              </a:rPr>
              <a:t>2018 9th International Conference on Information Technology in Medicine and Education (ITME)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 (pp. 379-383). IEEE</a:t>
            </a:r>
            <a:r>
              <a:rPr lang="en-GB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Yosep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, D.R., Faisal, M.R., 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Budiman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, I., 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Abadi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, F., 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Saputro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, S.W. and 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Hariyady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, H., 2025, September. Design of Software as a Service Based Information System for Campus Cooperation Management using User-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Centered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 Design. In </a:t>
            </a:r>
            <a:r>
              <a:rPr lang="en-IN" sz="1600" i="1" dirty="0">
                <a:latin typeface="Times New Roman" pitchFamily="18" charset="0"/>
                <a:cs typeface="Times New Roman" pitchFamily="18" charset="0"/>
              </a:rPr>
              <a:t>2025 8th International Conference of Computer and Informatics Engineering (IC2IE)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 (pp. 1-6). IEEE</a:t>
            </a: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Golding, T., 2024. </a:t>
            </a:r>
            <a:r>
              <a:rPr lang="en-GB" sz="1600" i="1" dirty="0">
                <a:latin typeface="Times New Roman" pitchFamily="18" charset="0"/>
                <a:cs typeface="Times New Roman" pitchFamily="18" charset="0"/>
              </a:rPr>
              <a:t>Building multi-tenant </a:t>
            </a:r>
            <a:r>
              <a:rPr lang="en-GB" sz="1600" i="1" dirty="0" err="1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GB" sz="1600" i="1" dirty="0">
                <a:latin typeface="Times New Roman" pitchFamily="18" charset="0"/>
                <a:cs typeface="Times New Roman" pitchFamily="18" charset="0"/>
              </a:rPr>
              <a:t> architectures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. " O'Reilly Media, Inc</a:t>
            </a:r>
            <a:r>
              <a:rPr lang="en-GB" sz="1600" dirty="0" smtClean="0">
                <a:latin typeface="Times New Roman" pitchFamily="18" charset="0"/>
                <a:cs typeface="Times New Roman" pitchFamily="18" charset="0"/>
              </a:rPr>
              <a:t>.".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Mohamed, F., 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Mizouni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, R., Abu-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Matar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, M., Al-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Qutayri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, M. and Whittle, J., 2017, August. An integrated platform for dynamic adaptation of multi-tenant single instance 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 applications. In </a:t>
            </a:r>
            <a:r>
              <a:rPr lang="en-IN" sz="1600" i="1" dirty="0">
                <a:latin typeface="Times New Roman" pitchFamily="18" charset="0"/>
                <a:cs typeface="Times New Roman" pitchFamily="18" charset="0"/>
              </a:rPr>
              <a:t>2017 IEEE 5th International Conference on Future Internet of Things and Cloud (</a:t>
            </a:r>
            <a:r>
              <a:rPr lang="en-IN" sz="1600" i="1" dirty="0" err="1">
                <a:latin typeface="Times New Roman" pitchFamily="18" charset="0"/>
                <a:cs typeface="Times New Roman" pitchFamily="18" charset="0"/>
              </a:rPr>
              <a:t>FiCloud</a:t>
            </a:r>
            <a:r>
              <a:rPr lang="en-IN" sz="1600" i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 (pp. 257-264). IEEE.</a:t>
            </a:r>
            <a:endParaRPr lang="en-GB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Wingdings" pitchFamily="2" charset="2"/>
              <a:buChar char="v"/>
            </a:pPr>
            <a:endParaRPr lang="en-GB" sz="16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 descr="Admissions — SIMATS">
            <a:extLst>
              <a:ext uri="{FF2B5EF4-FFF2-40B4-BE49-F238E27FC236}">
                <a16:creationId xmlns="" xmlns:a16="http://schemas.microsoft.com/office/drawing/2014/main" id="{2A2A853D-CA2F-3C99-F5B8-BBA1FB7B3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56271"/>
            <a:ext cx="4062270" cy="492370"/>
          </a:xfrm>
          <a:prstGeom prst="rect">
            <a:avLst/>
          </a:prstGeom>
        </p:spPr>
      </p:pic>
      <p:pic>
        <p:nvPicPr>
          <p:cNvPr id="7" name="Picture 6" descr="Saveetha University">
            <a:extLst>
              <a:ext uri="{FF2B5EF4-FFF2-40B4-BE49-F238E27FC236}">
                <a16:creationId xmlns="" xmlns:a16="http://schemas.microsoft.com/office/drawing/2014/main" id="{E5C893BA-9E02-B0BF-6892-74AACA68C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University">
            <a:extLst>
              <a:ext uri="{FF2B5EF4-FFF2-40B4-BE49-F238E27FC236}">
                <a16:creationId xmlns="" xmlns:a16="http://schemas.microsoft.com/office/drawing/2014/main" id="{E5C893BA-9E02-B0BF-6892-74AACA68C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3" name="Picture 2" descr="Admissions — SIMATS">
            <a:extLst>
              <a:ext uri="{FF2B5EF4-FFF2-40B4-BE49-F238E27FC236}">
                <a16:creationId xmlns="" xmlns:a16="http://schemas.microsoft.com/office/drawing/2014/main" id="{2A2A853D-CA2F-3C99-F5B8-BBA1FB7B3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56271"/>
            <a:ext cx="4062270" cy="4923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963827"/>
            <a:ext cx="914400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Sharma, A. and </a:t>
            </a:r>
            <a:r>
              <a:rPr lang="en-GB" dirty="0" err="1">
                <a:latin typeface="Times New Roman" pitchFamily="18" charset="0"/>
                <a:cs typeface="Times New Roman" pitchFamily="18" charset="0"/>
              </a:rPr>
              <a:t>Kaur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, P., 2021. TOSDS: tenant-centric object-based software defined storage for multitenant </a:t>
            </a:r>
            <a:r>
              <a:rPr lang="en-GB" dirty="0" err="1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applications. </a:t>
            </a:r>
            <a:r>
              <a:rPr lang="en-GB" i="1" dirty="0">
                <a:latin typeface="Times New Roman" pitchFamily="18" charset="0"/>
                <a:cs typeface="Times New Roman" pitchFamily="18" charset="0"/>
              </a:rPr>
              <a:t>Arabian Journal for Science and Engineering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en-GB" i="1" dirty="0">
                <a:latin typeface="Times New Roman" pitchFamily="18" charset="0"/>
                <a:cs typeface="Times New Roman" pitchFamily="18" charset="0"/>
              </a:rPr>
              <a:t>46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(9), pp.9221-9235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dirty="0" err="1">
                <a:latin typeface="Times New Roman" pitchFamily="18" charset="0"/>
                <a:cs typeface="Times New Roman" pitchFamily="18" charset="0"/>
              </a:rPr>
              <a:t>Akinbode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, G., 2022. </a:t>
            </a:r>
            <a:r>
              <a:rPr lang="en-GB" i="1" dirty="0">
                <a:latin typeface="Times New Roman" pitchFamily="18" charset="0"/>
                <a:cs typeface="Times New Roman" pitchFamily="18" charset="0"/>
              </a:rPr>
              <a:t>Evaluation a Security Framework for Access Control in </a:t>
            </a:r>
            <a:r>
              <a:rPr lang="en-GB" i="1" dirty="0" err="1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GB" i="1" dirty="0">
                <a:latin typeface="Times New Roman" pitchFamily="18" charset="0"/>
                <a:cs typeface="Times New Roman" pitchFamily="18" charset="0"/>
              </a:rPr>
              <a:t> Systems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 (Doctoral dissertation, Dublin, National College of Ireland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vi-VN" dirty="0">
                <a:latin typeface="Times New Roman" pitchFamily="18" charset="0"/>
                <a:cs typeface="Times New Roman" pitchFamily="18" charset="0"/>
              </a:rPr>
              <a:t>ANDRIIANENKO, O., 2026. </a:t>
            </a:r>
            <a:r>
              <a:rPr lang="vi-VN" i="1" dirty="0">
                <a:latin typeface="Times New Roman" pitchFamily="18" charset="0"/>
                <a:cs typeface="Times New Roman" pitchFamily="18" charset="0"/>
              </a:rPr>
              <a:t>Design and evaluation of multi-tenant architectures in microservice based project management systems</a:t>
            </a:r>
            <a:r>
              <a:rPr lang="vi-VN" dirty="0">
                <a:latin typeface="Times New Roman" pitchFamily="18" charset="0"/>
                <a:cs typeface="Times New Roman" pitchFamily="18" charset="0"/>
              </a:rPr>
              <a:t> (Doctoral dissertation, Universitatea Tehnică a Moldovei</a:t>
            </a:r>
            <a:r>
              <a:rPr lang="vi-VN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Wingdings" pitchFamily="2" charset="2"/>
              <a:buChar char="v"/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Sharma, R. and Coleman, S., 2026. Design and Development of a Cloud-Based Student Accommodation Management Application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IN" dirty="0" err="1">
                <a:latin typeface="Times New Roman" pitchFamily="18" charset="0"/>
                <a:cs typeface="Times New Roman" pitchFamily="18" charset="0"/>
              </a:rPr>
              <a:t>Budiarta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I.W.J.,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Iswara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I.B.A.I.,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Sukafona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I.M.,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Saraswati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N.W.S. and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Udayana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I.P.A.E.D., 2026. Design and Construction of a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-Based Multi-tenant Information System for Drone Activity Recording and Inventory. </a:t>
            </a:r>
            <a:r>
              <a:rPr lang="en-IN" i="1" dirty="0">
                <a:latin typeface="Times New Roman" pitchFamily="18" charset="0"/>
                <a:cs typeface="Times New Roman" pitchFamily="18" charset="0"/>
              </a:rPr>
              <a:t>JST (</a:t>
            </a:r>
            <a:r>
              <a:rPr lang="en-IN" i="1" dirty="0" err="1">
                <a:latin typeface="Times New Roman" pitchFamily="18" charset="0"/>
                <a:cs typeface="Times New Roman" pitchFamily="18" charset="0"/>
              </a:rPr>
              <a:t>Jurnal</a:t>
            </a:r>
            <a:r>
              <a:rPr lang="en-IN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i="1" dirty="0" err="1">
                <a:latin typeface="Times New Roman" pitchFamily="18" charset="0"/>
                <a:cs typeface="Times New Roman" pitchFamily="18" charset="0"/>
              </a:rPr>
              <a:t>Sains</a:t>
            </a:r>
            <a:r>
              <a:rPr lang="en-IN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i="1" dirty="0" err="1"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IN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i="1" dirty="0" err="1">
                <a:latin typeface="Times New Roman" pitchFamily="18" charset="0"/>
                <a:cs typeface="Times New Roman" pitchFamily="18" charset="0"/>
              </a:rPr>
              <a:t>Teknologi</a:t>
            </a:r>
            <a:r>
              <a:rPr lang="en-IN" i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en-IN" i="1" dirty="0"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(1), pp.70-81.</a:t>
            </a:r>
          </a:p>
        </p:txBody>
      </p:sp>
    </p:spTree>
    <p:extLst>
      <p:ext uri="{BB962C8B-B14F-4D97-AF65-F5344CB8AC3E}">
        <p14:creationId xmlns:p14="http://schemas.microsoft.com/office/powerpoint/2010/main" val="4173807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5,895 Thank You Sign Royalty-Free Images, Stock Photos &amp; Pictures |  Shutterstock">
            <a:extLst>
              <a:ext uri="{FF2B5EF4-FFF2-40B4-BE49-F238E27FC236}">
                <a16:creationId xmlns="" xmlns:a16="http://schemas.microsoft.com/office/drawing/2014/main" id="{6110245E-94C9-12DB-2750-254B00CE2C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33"/>
          <a:stretch>
            <a:fillRect/>
          </a:stretch>
        </p:blipFill>
        <p:spPr>
          <a:xfrm>
            <a:off x="1540412" y="1208099"/>
            <a:ext cx="5944626" cy="30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36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University">
            <a:extLst>
              <a:ext uri="{FF2B5EF4-FFF2-40B4-BE49-F238E27FC236}">
                <a16:creationId xmlns="" xmlns:a16="http://schemas.microsoft.com/office/drawing/2014/main" id="{E5C893BA-9E02-B0BF-6892-74AACA68C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3" name="Picture 2" descr="Admissions — SIMATS">
            <a:extLst>
              <a:ext uri="{FF2B5EF4-FFF2-40B4-BE49-F238E27FC236}">
                <a16:creationId xmlns="" xmlns:a16="http://schemas.microsoft.com/office/drawing/2014/main" id="{2A2A853D-CA2F-3C99-F5B8-BBA1FB7B3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56271"/>
            <a:ext cx="4062270" cy="4923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04080" y="751839"/>
            <a:ext cx="2773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GPS Photo</a:t>
            </a: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490" y="1213504"/>
            <a:ext cx="4598859" cy="3453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9720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1185</Words>
  <Application>Microsoft Office PowerPoint</Application>
  <PresentationFormat>On-screen Show (16:9)</PresentationFormat>
  <Paragraphs>167</Paragraphs>
  <Slides>21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Multi-Tenant SaaS-Based Student Learning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Development Of An Intelligent Smart Agriculture Management System Using Data Structures A</dc:title>
  <dc:subject>Design And Development Of An Intelligent Smart Agriculture Management System Using Data Structures A</dc:subject>
  <dc:creator>SlideMake.com</dc:creator>
  <cp:lastModifiedBy>ADMIN</cp:lastModifiedBy>
  <cp:revision>23</cp:revision>
  <dcterms:created xsi:type="dcterms:W3CDTF">2026-07-22T02:09:05Z</dcterms:created>
  <dcterms:modified xsi:type="dcterms:W3CDTF">2026-08-30T04:17:03Z</dcterms:modified>
</cp:coreProperties>
</file>